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19d55eefe94586" /><Relationship Type="http://schemas.openxmlformats.org/officeDocument/2006/relationships/extended-properties" Target="/docProps/app.xml" Id="R590f7256a059495e" /><Relationship Type="http://schemas.openxmlformats.org/officeDocument/2006/relationships/officeDocument" Target="/ppt/presentation.xml" Id="R11ff0d168a2240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5d1ffd912a4bee"/>
  </p:sldMasterIdLst>
  <p:notesMasterIdLst>
    <p:notesMasterId xmlns:r="http://schemas.openxmlformats.org/officeDocument/2006/relationships" r:id="R7c5f68dc811849d6"/>
  </p:notesMasterIdLst>
  <p:sldIdLst>
    <p:sldId xmlns:r="http://schemas.openxmlformats.org/officeDocument/2006/relationships" id="256" r:id="Rc066836d620d4f9d"/>
    <p:sldId xmlns:r="http://schemas.openxmlformats.org/officeDocument/2006/relationships" id="257" r:id="Ra7cc13ea0ddb40c2"/>
    <p:sldId xmlns:r="http://schemas.openxmlformats.org/officeDocument/2006/relationships" id="258" r:id="Rea3278d4c4354eb2"/>
    <p:sldId xmlns:r="http://schemas.openxmlformats.org/officeDocument/2006/relationships" id="259" r:id="R3a9bbb567c6a4a5b"/>
    <p:sldId xmlns:r="http://schemas.openxmlformats.org/officeDocument/2006/relationships" id="260" r:id="Ra1eea28de380480e"/>
    <p:sldId xmlns:r="http://schemas.openxmlformats.org/officeDocument/2006/relationships" id="261" r:id="Rdf87d1044cff48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7871334d554380" /><Relationship Type="http://schemas.openxmlformats.org/officeDocument/2006/relationships/slideMaster" Target="/ppt/slideMasters/slideMaster1.xml" Id="R785d1ffd912a4bee" /><Relationship Type="http://schemas.openxmlformats.org/officeDocument/2006/relationships/notesMaster" Target="/ppt/notesMasters/notesMaster1.xml" Id="R7c5f68dc811849d6" /><Relationship Type="http://schemas.openxmlformats.org/officeDocument/2006/relationships/presProps" Target="/ppt/presProps.xml" Id="R099dc074231d4c0f" /><Relationship Type="http://schemas.openxmlformats.org/officeDocument/2006/relationships/tableStyles" Target="/ppt/tableStyles.xml" Id="R210d4feac4094aee" /><Relationship Type="http://schemas.openxmlformats.org/officeDocument/2006/relationships/slide" Target="/ppt/slides/slide1.xml" Id="Rc066836d620d4f9d" /><Relationship Type="http://schemas.openxmlformats.org/officeDocument/2006/relationships/slide" Target="/ppt/slides/slide2.xml" Id="Ra7cc13ea0ddb40c2" /><Relationship Type="http://schemas.openxmlformats.org/officeDocument/2006/relationships/slide" Target="/ppt/slides/slide3.xml" Id="Rea3278d4c4354eb2" /><Relationship Type="http://schemas.openxmlformats.org/officeDocument/2006/relationships/slide" Target="/ppt/slides/slide4.xml" Id="R3a9bbb567c6a4a5b" /><Relationship Type="http://schemas.openxmlformats.org/officeDocument/2006/relationships/slide" Target="/ppt/slides/slide5.xml" Id="Ra1eea28de380480e" /><Relationship Type="http://schemas.openxmlformats.org/officeDocument/2006/relationships/slide" Target="/ppt/slides/slide6.xml" Id="Rdf87d1044cff48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92ed8c35b948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7b7e131d9a44c9" /><Relationship Type="http://schemas.openxmlformats.org/officeDocument/2006/relationships/notesMaster" Target="/ppt/notesMasters/notesMaster1.xml" Id="R75a9078e0dad4b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1c7597eec642ad" /><Relationship Type="http://schemas.openxmlformats.org/officeDocument/2006/relationships/notesMaster" Target="/ppt/notesMasters/notesMaster1.xml" Id="R58c00206ffd646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ca5c1348094e45" /><Relationship Type="http://schemas.openxmlformats.org/officeDocument/2006/relationships/notesMaster" Target="/ppt/notesMasters/notesMaster1.xml" Id="R39a17d92359142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7c8499fc2c4e19" /><Relationship Type="http://schemas.openxmlformats.org/officeDocument/2006/relationships/notesMaster" Target="/ppt/notesMasters/notesMaster1.xml" Id="Rd299e7c598a941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5322fabf75439d" /><Relationship Type="http://schemas.openxmlformats.org/officeDocument/2006/relationships/notesMaster" Target="/ppt/notesMasters/notesMaster1.xml" Id="Rf1287c69918745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304fa47ffb48f4" /><Relationship Type="http://schemas.openxmlformats.org/officeDocument/2006/relationships/notesMaster" Target="/ppt/notesMasters/notesMaster1.xml" Id="Rd91af0f9bb874a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Открываю с проблемы, а не с технологий. В HR нужно не только написать письмо: нужно помнить контекст, выбрать момент, дождаться ответа, напомнить без давления и понять, когда пора подключить человека. Поэтому ценное время HR уходит на управление коммуникационным циклом. На следующем слайде показываю workspace, который собирает этот цикл в одно место.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первый продуктовый reveal. Передо мной не список писем, а Communication Inbox: сверху summary, в каждой строке состояние, последнее и следующее действие, канал и риск. ХьюманЛИ превращает один HR-запрос в управляемый персональный цикл. После этой мысли естественная точка перехода: «Давайте покажу, как это работает». Здесь я запускаю live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live demo объясняю, почему письмо выглядит персональным. Имя в шаблоне — это не персонализация. Communication Memory учитывает предыдущие темы, предпочтительный формат, привычное время ответа и прошлые follow-up. Важно: это рабочий коммуникационный контекст внутри HR-процесса, а не психологический профиль и не рейтинг сотрудника.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главный техническо-продуктовый слайд. Мы разделили ответственность. Decision Engine выбирает, что делать, когда это делать и нужна ли эскалация. AI Message Generator формулирует естественный текст. Communication Guard проверяет длину, тон, повторы, частоту и рабочее время. Если Live AI недоступен, DemoProvider сохраняет тот же workflow. Главная фраза: LLM не принимает скрытые HR-решения — он отвечает за язык.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показываю эмоционально важную границу. Дмитрий ответил — workflow сам архивировал будущие события, HR не занимается cleanup. Игорь несколько раз не отвечает — ХьюманЛИ не продолжает бесконечные касания, а предлагает личный разговор или другой канал. Для чувствительных тем есть ещё одна граница: нужен approval HR.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 не про список будущих фич. Слева — то, что уже работает: Inbox, решения, память, AI, guard, campaigns и analytics. Справа — честный production path: каналы, календарь, server-side storage, права и audit. Analytics показывает derived сигналы из synthetic demo data, а не production benchmark. Завершаю one-liner продукта и перехожу к вопросам.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c4ecba95a45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f5895f7a98454b" /><Relationship Type="http://schemas.openxmlformats.org/officeDocument/2006/relationships/slideLayout" Target="/ppt/slideLayouts/slideLayout1.xml" Id="R3764efcf25a14e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64efcf25a14e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2650794dd4d36" /><Relationship Type="http://schemas.openxmlformats.org/officeDocument/2006/relationships/notesSlide" Target="/ppt/notesSlides/notesSlide1.xml" Id="R33fd4d473c6048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4b43af6e9489a" /><Relationship Type="http://schemas.openxmlformats.org/officeDocument/2006/relationships/image" Target="/ppt/media/image.png" Id="Rd97494d6b2a1444d" /><Relationship Type="http://schemas.openxmlformats.org/officeDocument/2006/relationships/notesSlide" Target="/ppt/notesSlides/notesSlide2.xml" Id="Rdb18d64ccc48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2bf455d0f4cdb" /><Relationship Type="http://schemas.openxmlformats.org/officeDocument/2006/relationships/image" Target="/ppt/media/image2.png" Id="Rce2c07a89178429c" /><Relationship Type="http://schemas.openxmlformats.org/officeDocument/2006/relationships/notesSlide" Target="/ppt/notesSlides/notesSlide3.xml" Id="Ra46befe93e784b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bbd54285e4898" /><Relationship Type="http://schemas.openxmlformats.org/officeDocument/2006/relationships/image" Target="/ppt/media/image3.png" Id="R1d88a9182eeb45cf" /><Relationship Type="http://schemas.openxmlformats.org/officeDocument/2006/relationships/notesSlide" Target="/ppt/notesSlides/notesSlide4.xml" Id="R403f6ed1f62844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9771f1ea1484a" /><Relationship Type="http://schemas.openxmlformats.org/officeDocument/2006/relationships/image" Target="/ppt/media/image4.png" Id="R6b23d0293ded40fb" /><Relationship Type="http://schemas.openxmlformats.org/officeDocument/2006/relationships/image" Target="/ppt/media/image5.png" Id="Ree855adfb0b7439d" /><Relationship Type="http://schemas.openxmlformats.org/officeDocument/2006/relationships/notesSlide" Target="/ppt/notesSlides/notesSlide5.xml" Id="R3666574a76354a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fc9e8320842ce" /><Relationship Type="http://schemas.openxmlformats.org/officeDocument/2006/relationships/image" Target="/ppt/media/image6.png" Id="Refa315d6b7c34715" /><Relationship Type="http://schemas.openxmlformats.org/officeDocument/2006/relationships/notesSlide" Target="/ppt/notesSlides/notesSlide6.xml" Id="Rc5d6df0f3ad145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283564-6B3F-480B-AB78-DABB2B12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756F"/>
                </a:solidFill>
                <a:latin typeface="Arial"/>
                <a:ea typeface="Arial"/>
                <a:cs typeface="Arial"/>
              </a:rPr>
              <a:t>ХЬЮМАНЛИ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A0B65-2DF3-4928-96F7-118A9C4F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645A4-D42F-4E05-AB3E-4B1B5908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09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CB562-C526-4095-80D9-45DFDA34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HR тонет не в текстах, а в коммуникационном цикле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B34F7-FF14-4B07-90AE-91524EE1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Каждый запрос превращается в серию ручных решений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CA284-952C-453B-BEE1-8D5519E6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56F"/>
                </a:solidFill>
                <a:latin typeface="Arial"/>
                <a:ea typeface="Arial"/>
                <a:cs typeface="Arial"/>
              </a:rPr>
              <a:t>HR тратит время на управление циклом, а не на разговор с человеком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F2DCB-6936-456A-88D2-2AA378BE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809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E2F5F2"/>
          </a:solidFill>
          <a:ln xmlns:a="http://schemas.openxmlformats.org/drawingml/2006/main" w="9525">
            <a:solidFill>
              <a:srgbClr val="E2F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BB856-D55D-4D1D-946A-D3D00FD1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56F"/>
                </a:solidFill>
                <a:latin typeface="Arial"/>
                <a:ea typeface="Arial"/>
                <a:cs typeface="Arial"/>
              </a:rPr>
              <a:t>HR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097B0-2ADE-4EDF-BDE2-B95297EA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получил запрос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27683-6F79-4F33-9C50-04B0A100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33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9C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9C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20B36-3DCE-400B-A44D-5E2D8AC9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809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D9860-98B2-47AD-A359-EA2651FE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671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Письмо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AF01A-54B9-4A83-8258-A09109A8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290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первое касание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4E846-FDE1-482C-8084-7D2DC4F5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33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9C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9C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C2718-0255-4293-BE7A-00757227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809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6CF64-8CAD-4F3F-BE9B-0CB9F457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671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Ожидание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993A1-2118-4F2A-932F-154A5621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290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ответа нет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F7545-86D6-4F03-8181-D864390D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9C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9C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B8FA1-C4F9-42CD-88E0-4E0893ED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1809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FF4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4D25C-6E3A-46C8-A756-BD363DA0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671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78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7817"/>
                </a:solidFill>
                <a:latin typeface="Arial"/>
                <a:ea typeface="Arial"/>
                <a:cs typeface="Arial"/>
              </a:rPr>
              <a:t>Reminder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EF106-CA55-4DF7-AD8D-3684FA5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290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ещё одно касание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8FB53-2FCF-49F3-BED8-FC89E935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33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9C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9C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04474-0E81-4512-9240-880A0B9D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29000"/>
            <a:ext cx="1809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FFF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0ED74-87AF-43CC-A163-C8C63A5C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671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B59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B596B"/>
                </a:solidFill>
                <a:latin typeface="Arial"/>
                <a:ea typeface="Arial"/>
                <a:cs typeface="Arial"/>
              </a:rPr>
              <a:t>Эскалация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3B3EED-476C-459C-9A6E-E948F66A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290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подключить человека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A9FC2E-A17D-4672-93D4-17AE8329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Ценное время HR уходит не на людей, а на контроль следующего шага</a:t>
            </a:r>
          </a:p>
        </p:txBody>
      </p:sp>
    </p:spTree>
    <p:extLst>
      <p:ext uri="{BB962C8B-B14F-4D97-AF65-F5344CB8AC3E}">
        <p14:creationId xmlns:p14="http://schemas.microsoft.com/office/powerpoint/2010/main" val="2041193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BD0D2-A166-4099-A40A-01D6C2DA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756F"/>
                </a:solidFill>
                <a:latin typeface="Arial"/>
                <a:ea typeface="Arial"/>
                <a:cs typeface="Arial"/>
              </a:rPr>
              <a:t>ХЬЮМАНЛИ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8E617-E74B-4FDD-9BCE-DA313063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EDFAE-C770-4482-8427-6626EFAA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09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A6F7E-8D25-4D86-B831-4B347CF7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Один HR-запрос → управляемый персональный цикл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A0A0B-1179-4705-9CC3-AC87C196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ХьюманЛИ — человечная автоматизация HR-коммуникаций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4397F-E92D-4746-B971-450EB1D1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ХьюманЛИ управляет не письмом, а всем жизненным циклом коммуникации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3BC80-DC12-4D44-8727-FB073580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56F"/>
                </a:solidFill>
                <a:latin typeface="Arial"/>
                <a:ea typeface="Arial"/>
                <a:cs typeface="Arial"/>
              </a:rPr>
              <a:t>Inbox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D069D-A1B2-4733-86AE-770E42B0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все активные кейсы в одном месте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7B01D-C43F-4B80-B2DF-F5ADDA50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56F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CAAB5-2CD7-42EC-8268-10666BDF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следующий шаг уже рассчитан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C6AD2-D5FF-4C98-AC32-D20F280B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B5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B596B"/>
                </a:solidFill>
                <a:latin typeface="Arial"/>
                <a:ea typeface="Arial"/>
                <a:cs typeface="Arial"/>
              </a:rPr>
              <a:t>Attention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A60F5-2902-4267-AFA7-1C8F89EA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HR видит только то, что требует внимания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3C17A-96AC-4893-93F0-A1C3CE6A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85950"/>
            <a:ext cx="7267575" cy="4552950"/>
          </a:xfrm>
          <a:prstGeom xmlns:a="http://schemas.openxmlformats.org/drawingml/2006/main" prst="roundRect">
            <a:avLst>
              <a:gd name="adj" fmla="val 41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494d6b2a1444d"/>
          <a:srcRect xmlns:a="http://schemas.openxmlformats.org/drawingml/2006/main" l="0" t="119" r="0" b="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1914525"/>
            <a:ext cx="7210425" cy="449580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</p:spTree>
    <p:extLst>
      <p:ext uri="{BB962C8B-B14F-4D97-AF65-F5344CB8AC3E}">
        <p14:creationId xmlns:p14="http://schemas.microsoft.com/office/powerpoint/2010/main" val="1406471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B0A4A-F229-4669-A07E-3E91199E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756F"/>
                </a:solidFill>
                <a:latin typeface="Arial"/>
                <a:ea typeface="Arial"/>
                <a:cs typeface="Arial"/>
              </a:rPr>
              <a:t>ХЬЮМАНЛИ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5FCBA-9944-41F5-9515-571274B1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ПЕРСОНАЛИЗАЦИЯ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FD993-551E-4DCB-AA9D-9B38EBF5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09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29351-AF83-4823-B8D9-A5E51385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Персонализация начинается после имени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4A3C0-9F18-4A85-918C-63E2A0E0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Communication Memory сохраняет контекст предыдущего взаимодействия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0F389-D296-466A-8815-68F092FD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067C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067C5"/>
                </a:solidFill>
                <a:latin typeface="Arial"/>
                <a:ea typeface="Arial"/>
                <a:cs typeface="Arial"/>
              </a:rPr>
              <a:t>Короткий формат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BB307-F80E-4EE9-914D-CE0E8159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230"/>
                </a:solidFill>
                <a:latin typeface="Arial"/>
                <a:ea typeface="Arial"/>
                <a:cs typeface="Arial"/>
              </a:rPr>
              <a:t>Дмитрий обычно отвечает в течение 1–2 дней. Удачное окно — 10:00–12:00.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671E9-38AA-447C-9701-3F8B9736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8575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F1E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DBB57-385B-468F-AE8D-3EC87F66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067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067C5"/>
                </a:solidFill>
                <a:latin typeface="Arial"/>
                <a:ea typeface="Arial"/>
                <a:cs typeface="Arial"/>
              </a:rPr>
              <a:t>Communication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F6485-0DE5-44F9-9B30-FC309FF2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не психологический профиль сотрудника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2E86A-66C3-449E-B8EA-03D6D2AA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66900"/>
            <a:ext cx="7524750" cy="4572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c07a89178429c"/>
          <a:srcRect xmlns:a="http://schemas.openxmlformats.org/drawingml/2006/main" l="0" t="1633" r="0" b="16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10025" y="1895475"/>
            <a:ext cx="7467600" cy="4514850"/>
          </a:xfrm>
          <a:prstGeom xmlns:a="http://schemas.openxmlformats.org/drawingml/2006/main" prst="roundRect">
            <a:avLst>
              <a:gd name="adj" fmla="val 3376"/>
            </a:avLst>
          </a:prstGeom>
        </p:spPr>
      </p:pic>
    </p:spTree>
    <p:extLst>
      <p:ext uri="{BB962C8B-B14F-4D97-AF65-F5344CB8AC3E}">
        <p14:creationId xmlns:p14="http://schemas.microsoft.com/office/powerpoint/2010/main" val="933733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F37433-D5A3-483A-9736-31E951A3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756F"/>
                </a:solidFill>
                <a:latin typeface="Arial"/>
                <a:ea typeface="Arial"/>
                <a:cs typeface="Arial"/>
              </a:rPr>
              <a:t>ХЬЮМАНЛИ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F32CF-A7F7-4871-9AF9-9717ED5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AI И КОНТРОЛЬ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4C529-58B4-4B65-95F8-EB6820A5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09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04B0B-5EE6-4E13-9C22-B01C1D51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AI формулирует. Правила решают. Контроль защищает.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52D8F-30C7-485A-AED1-7897ACD1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LLM отвечает за естественный язык, а не за скрытые HR-решения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DB1C5-AC45-40F8-A84F-DCA5229A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762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E55CE-60A2-4877-81A0-0BC93EF8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Context /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7A799-C4D1-45E7-9BA8-7B4BDA7C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что мы знаем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C450B-A3D4-4DBB-B79F-2655C10B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9850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9C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9C91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817DD-A5DA-4B6B-88A1-4EBF92E7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762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2F5F2"/>
          </a:solidFill>
          <a:ln xmlns:a="http://schemas.openxmlformats.org/drawingml/2006/main" w="9525">
            <a:solidFill>
              <a:srgbClr val="BEE6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5E849-DC09-4103-83D4-CE5044E5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Decision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EB498-92E7-4180-8D99-5D2A2280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718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что / когда / следующий шаг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16D39-2255-46E0-B3E8-689A658E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90900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9C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9C91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C49F1-1D7A-4534-9AB7-BA92C2AC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762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D7E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782FAA-7534-4DA1-82DE-D4F7F251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861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AI Message Generator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ADFF1-0BF3-4B9C-AC2A-A38E142F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528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как сформулировать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5293F-CF9A-4ABD-BEF8-2EA23B0D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9C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9C91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1AC50-3B9B-4E12-9806-1670C343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762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2D99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80BB6-5D42-48BF-8700-2EAEC161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Communication Guard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6B47CB-BD36-4E78-9BE6-6E1030E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уместно ли отправлять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4C2D6-DAB2-4325-A2B5-B9642B37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9C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9C91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08B48-F757-4A73-8888-17DA84A7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762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F2C7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D8AF9-D31E-43A0-ACBB-75ED66EB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482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Send / Approval / Human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1FE943-8DDB-4E24-917E-C2551A4F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149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что увидит HR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61493D-DDF2-4E5E-B4AA-DA848439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2672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CBC38A-1508-404E-8045-7AF3780D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8756F"/>
                </a:solidFill>
                <a:latin typeface="Arial"/>
                <a:ea typeface="Arial"/>
                <a:cs typeface="Arial"/>
              </a:rPr>
              <a:t>ПОЧЕМУ ТАК?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4B1EBC-8037-4BEE-930D-EA7ECE92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33650"/>
            <a:ext cx="357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Decision Engine объясняет следующий шаг до генерации текста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14ADCD-0212-482A-BBA3-F6B0E4D5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670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5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Решение воспроизводимо. Формулировка может быть естественной.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D40498-41E4-4851-87BD-FB8D0F07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42672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8a9182eeb45cf"/>
          <a:stretch xmlns:a="http://schemas.openxmlformats.org/drawingml/2006/main"/>
        </p:blipFill>
        <p:spPr>
          <a:xfrm xmlns:a="http://schemas.openxmlformats.org/drawingml/2006/main">
            <a:off x="6899137" y="3705225"/>
            <a:ext cx="4184926" cy="1009650"/>
          </a:xfrm>
          <a:prstGeom xmlns:a="http://schemas.openxmlformats.org/drawingml/2006/main" prst="roundRect">
            <a:avLst>
              <a:gd name="adj" fmla="val 15094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FB8F66-A4D9-4E06-9FB3-1C5296C4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91125"/>
            <a:ext cx="18097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EDF1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7E448D-4543-41CF-8B68-B69EA004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911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C74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C74DF"/>
                </a:solidFill>
                <a:latin typeface="Arial"/>
                <a:ea typeface="Arial"/>
                <a:cs typeface="Arial"/>
              </a:rPr>
              <a:t>OpenRouter / Qwen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1A6D60-8C22-4DFE-80B9-61B03CBA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91125"/>
            <a:ext cx="22860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E2F5F2"/>
          </a:solidFill>
          <a:ln xmlns:a="http://schemas.openxmlformats.org/drawingml/2006/main" w="9525">
            <a:solidFill>
              <a:srgbClr val="E2F5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BB7AC4-821D-410E-9760-A174F5C2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911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56F"/>
                </a:solidFill>
                <a:latin typeface="Arial"/>
                <a:ea typeface="Arial"/>
                <a:cs typeface="Arial"/>
              </a:rPr>
              <a:t>DemoProvider fallback</a:t>
            </a:r>
          </a:p>
        </p:txBody>
      </p:sp>
    </p:spTree>
    <p:extLst>
      <p:ext uri="{BB962C8B-B14F-4D97-AF65-F5344CB8AC3E}">
        <p14:creationId xmlns:p14="http://schemas.microsoft.com/office/powerpoint/2010/main" val="19287887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FE892-E37C-414E-AE44-C33687C1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756F"/>
                </a:solidFill>
                <a:latin typeface="Arial"/>
                <a:ea typeface="Arial"/>
                <a:cs typeface="Arial"/>
              </a:rPr>
              <a:t>ХЬЮМАНЛИ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491BA-A3A2-43D1-AF2D-319446E8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ГРАНИЦЫ АВТОМАТИЗАЦИИ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E5060-3910-40C3-B038-BB99DADA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09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EFECF-7971-4BBD-B468-2F6C264E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Автоматизация знает, когда остановиться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A3E5C-9889-4CD3-8AC9-903A0588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ХьюманЛИ автоматизирует рутину, но не заменяет человека там, где нужен человек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38BD8-253B-4AAE-9B91-71882364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7F0"/>
          </a:solidFill>
          <a:ln xmlns:a="http://schemas.openxmlformats.org/drawingml/2006/main" w="9525">
            <a:solidFill>
              <a:srgbClr val="E7F7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F41E0-80FB-4892-A99C-F45250FC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88B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88B65"/>
                </a:solidFill>
                <a:latin typeface="Arial"/>
                <a:ea typeface="Arial"/>
                <a:cs typeface="Arial"/>
              </a:rPr>
              <a:t>ДМИТРИЙ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7E1D0-0575-4A63-9D3F-624B87C0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1000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FFF0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B1CBE-FB2D-4A4C-A171-8F5154EE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B59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B596B"/>
                </a:solidFill>
                <a:latin typeface="Arial"/>
                <a:ea typeface="Arial"/>
                <a:cs typeface="Arial"/>
              </a:rPr>
              <a:t>ИГОРЬ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D4020-A813-47F0-B77B-304B2A3D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143500" cy="3219450"/>
          </a:xfrm>
          <a:prstGeom xmlns:a="http://schemas.openxmlformats.org/drawingml/2006/main" prst="roundRect">
            <a:avLst>
              <a:gd name="adj" fmla="val 5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3d0293ded40fb"/>
          <a:srcRect xmlns:a="http://schemas.openxmlformats.org/drawingml/2006/main" l="0" t="262" r="0" b="2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2266950"/>
            <a:ext cx="5086350" cy="3162300"/>
          </a:xfrm>
          <a:prstGeom xmlns:a="http://schemas.openxmlformats.org/drawingml/2006/main" prst="roundRect">
            <a:avLst>
              <a:gd name="adj" fmla="val 4819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F60B8-31C9-440A-B4D8-FF9D3EA2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38375"/>
            <a:ext cx="5143500" cy="3219450"/>
          </a:xfrm>
          <a:prstGeom xmlns:a="http://schemas.openxmlformats.org/drawingml/2006/main" prst="roundRect">
            <a:avLst>
              <a:gd name="adj" fmla="val 5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55adfb0b7439d"/>
          <a:srcRect xmlns:a="http://schemas.openxmlformats.org/drawingml/2006/main" l="0" t="262" r="0" b="2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275" y="2266950"/>
            <a:ext cx="5086350" cy="3162300"/>
          </a:xfrm>
          <a:prstGeom xmlns:a="http://schemas.openxmlformats.org/drawingml/2006/main" prst="roundRect">
            <a:avLst>
              <a:gd name="adj" fmla="val 4819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8187A-FE1D-4E6A-B8E6-F0C4A6C6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8B6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88B65"/>
                </a:solidFill>
                <a:latin typeface="Arial"/>
                <a:ea typeface="Arial"/>
                <a:cs typeface="Arial"/>
              </a:rPr>
              <a:t>Ответил → цикл завершён → будущие события архивированы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9C8EA-C8F7-4FD3-9F60-C3A3F446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76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1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59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B596B"/>
                </a:solidFill>
                <a:latin typeface="Arial"/>
                <a:ea typeface="Arial"/>
                <a:cs typeface="Arial"/>
              </a:rPr>
              <a:t>Повторно не отвечает → новые сообщения прекращаются → нужен личный контакт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A05D8-7556-4026-93E9-F4490044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191250"/>
            <a:ext cx="4238625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FF4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07978-52BF-4A53-BC17-C7954968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1912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781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7817"/>
                </a:solidFill>
                <a:latin typeface="Arial"/>
                <a:ea typeface="Arial"/>
                <a:cs typeface="Arial"/>
              </a:rPr>
              <a:t>Sensitive topic → подтверждение HR</a:t>
            </a:r>
          </a:p>
        </p:txBody>
      </p:sp>
    </p:spTree>
    <p:extLst>
      <p:ext uri="{BB962C8B-B14F-4D97-AF65-F5344CB8AC3E}">
        <p14:creationId xmlns:p14="http://schemas.microsoft.com/office/powerpoint/2010/main" val="7506303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1CCA9-2320-4E4E-B32E-92011A22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756F"/>
                </a:solidFill>
                <a:latin typeface="Arial"/>
                <a:ea typeface="Arial"/>
                <a:cs typeface="Arial"/>
              </a:rPr>
              <a:t>ХЬЮМАНЛИ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14E31-5976-453D-8214-EBB872B6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38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MVP И СЛЕДУЮЩИЙ СЛОЙ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CBDE4-8B6B-4321-BD14-B6742863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09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A1ED8-DADF-4AA8-ACF3-69A1B168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Маленький MVP с правильными границами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93E22-D378-47B5-920B-563C7A87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8094"/>
                </a:solidFill>
                <a:latin typeface="Arial"/>
                <a:ea typeface="Arial"/>
                <a:cs typeface="Arial"/>
              </a:rPr>
              <a:t>Уже работает — и понятно, что добавлять дальше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48457-A84D-402C-876F-BC6CF10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676650" cy="36671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2F5F2"/>
          </a:solidFill>
          <a:ln xmlns:a="http://schemas.openxmlformats.org/drawingml/2006/main" w="9525">
            <a:solidFill>
              <a:srgbClr val="C7E9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8E455-7707-4088-824F-90FFE9CF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756F"/>
                </a:solidFill>
                <a:latin typeface="Arial"/>
                <a:ea typeface="Arial"/>
                <a:cs typeface="Arial"/>
              </a:rPr>
              <a:t>УЖЕ РАБОТАЕТ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27D3D-59A8-496F-A8DF-20550C03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Communication Inbox</a:t>
            </a:r>
          </a:p>
          <a:p xmlns:a="http://schemas.openxmlformats.org/drawingml/2006/main">
            <a:pPr algn="l">
              <a:defRPr sz="1575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Decision Engine</a:t>
            </a:r>
          </a:p>
          <a:p xmlns:a="http://schemas.openxmlformats.org/drawingml/2006/main">
            <a:pPr algn="l">
              <a:defRPr sz="1575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Communication Memory</a:t>
            </a:r>
          </a:p>
          <a:p xmlns:a="http://schemas.openxmlformats.org/drawingml/2006/main">
            <a:pPr algn="l">
              <a:defRPr sz="1575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Live AI + DemoProvider</a:t>
            </a:r>
          </a:p>
          <a:p xmlns:a="http://schemas.openxmlformats.org/drawingml/2006/main">
            <a:pPr algn="l">
              <a:defRPr sz="1575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Communication Guard</a:t>
            </a:r>
          </a:p>
          <a:p xmlns:a="http://schemas.openxmlformats.org/drawingml/2006/main">
            <a:pPr algn="l">
              <a:defRPr sz="1575" b="1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230"/>
                </a:solidFill>
                <a:latin typeface="Arial"/>
                <a:ea typeface="Arial"/>
                <a:cs typeface="Arial"/>
              </a:rPr>
              <a:t>Campaigns / Analytics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8F169-9176-4150-8B45-37278275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8756F"/>
                </a:solidFill>
                <a:latin typeface="Arial"/>
                <a:ea typeface="Arial"/>
                <a:cs typeface="Arial"/>
              </a:rPr>
              <a:t>local-first · deterministic decisions · graceful 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BC6C8-77CF-4C6A-AEAA-A757CCC5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85950"/>
            <a:ext cx="66103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315d6b7c34715"/>
          <a:srcRect xmlns:a="http://schemas.openxmlformats.org/drawingml/2006/main" l="0" t="10000" r="0" b="1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24425" y="1914525"/>
            <a:ext cx="6553200" cy="327660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EEB65-4665-42F9-B663-AF56CDFA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81625"/>
            <a:ext cx="2800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6322C-6675-4B99-B82D-F01122B5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8162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94"/>
                </a:solidFill>
                <a:latin typeface="Arial"/>
                <a:ea typeface="Arial"/>
                <a:cs typeface="Arial"/>
              </a:rPr>
              <a:t>derived из synthetic/local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141BE-DE1B-4594-B57D-D4B9AA4C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638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09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094"/>
                </a:solidFill>
                <a:latin typeface="Arial"/>
                <a:ea typeface="Arial"/>
                <a:cs typeface="Arial"/>
              </a:rPr>
              <a:t>СЛЕДУЮЩИЙ СЛОЙ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8E2E4-1416-4D3A-91D2-C9786EEC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9055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2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2230"/>
                </a:solidFill>
                <a:latin typeface="Arial"/>
                <a:ea typeface="Arial"/>
                <a:cs typeface="Arial"/>
              </a:rPr>
              <a:t>Email / Teams / Slack   ·   Calendar   ·   Backend storage   ·   RBAC / audit   ·   production delivery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D601F-FCE0-4DEF-87B9-DE859762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5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56F"/>
                </a:solidFill>
                <a:latin typeface="Arial"/>
                <a:ea typeface="Arial"/>
                <a:cs typeface="Arial"/>
              </a:rPr>
              <a:t>Ассистент полного цикла HR-коммуникаций: знает, кому, когда и как написать — и когда остановиться.</a:t>
            </a:r>
          </a:p>
        </p:txBody>
      </p:sp>
    </p:spTree>
    <p:extLst>
      <p:ext uri="{BB962C8B-B14F-4D97-AF65-F5344CB8AC3E}">
        <p14:creationId xmlns:p14="http://schemas.microsoft.com/office/powerpoint/2010/main" val="924642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2026-09-18T09:25:50.6060000Z</dcterms:created>
  <dcterms:modified xsi:type="dcterms:W3CDTF">2026-09-18T09:25:50.6060000Z</dcterms:modified>
</coreProperties>
</file>